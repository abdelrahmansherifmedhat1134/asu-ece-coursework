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258" r:id="rId4"/>
    <p:sldId id="262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70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orient="horz" pos="22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41" autoAdjust="0"/>
  </p:normalViewPr>
  <p:slideViewPr>
    <p:cSldViewPr snapToGrid="0">
      <p:cViewPr>
        <p:scale>
          <a:sx n="81" d="100"/>
          <a:sy n="81" d="100"/>
        </p:scale>
        <p:origin x="756" y="31"/>
      </p:cViewPr>
      <p:guideLst>
        <p:guide pos="3840"/>
        <p:guide orient="horz" pos="2160"/>
        <p:guide orient="horz" pos="22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4786EB-48B0-4178-BC30-89D926D270D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9090E-D33A-4ED6-B81B-58C732353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966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39090E-D33A-4ED6-B81B-58C7323536F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149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2676" y="242047"/>
            <a:ext cx="1755248" cy="17552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0959" y="150175"/>
            <a:ext cx="67100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Epm</a:t>
            </a:r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213</a:t>
            </a:r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s-Electrical Measurements </a:t>
            </a:r>
          </a:p>
          <a:p>
            <a:pPr algn="ctr"/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algn="ctr"/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Transducers </a:t>
            </a:r>
            <a:r>
              <a:rPr lang="en-US" sz="4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ProJect</a:t>
            </a:r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 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991745"/>
              </p:ext>
            </p:extLst>
          </p:nvPr>
        </p:nvGraphicFramePr>
        <p:xfrm>
          <a:off x="2034676" y="3169024"/>
          <a:ext cx="8128000" cy="22199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064000"/>
                <a:gridCol w="4064000"/>
              </a:tblGrid>
              <a:tr h="16265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Abdelrahman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Sherif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Medhat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2300100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Omar Ahmed Mohamed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2300206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Omar Ashraf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Abdelhamid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2301056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Omar Khaled </a:t>
                      </a:r>
                      <a:r>
                        <a:rPr lang="en-US" dirty="0" err="1" smtClean="0"/>
                        <a:t>Abdelaty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2300366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Zeyad</a:t>
                      </a:r>
                      <a:r>
                        <a:rPr lang="en-US" dirty="0" smtClean="0"/>
                        <a:t> Osama Mohamed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2300678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0244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4466665" y="147549"/>
            <a:ext cx="3258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000"/>
            </a:lvl1pPr>
          </a:lstStyle>
          <a:p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78" name="Group 77"/>
          <p:cNvGrpSpPr/>
          <p:nvPr/>
        </p:nvGrpSpPr>
        <p:grpSpPr>
          <a:xfrm>
            <a:off x="4130040" y="1477329"/>
            <a:ext cx="3931920" cy="3931920"/>
            <a:chOff x="3829049" y="1411667"/>
            <a:chExt cx="4572002" cy="4572003"/>
          </a:xfrm>
        </p:grpSpPr>
        <p:grpSp>
          <p:nvGrpSpPr>
            <p:cNvPr id="67" name="Group 66"/>
            <p:cNvGrpSpPr/>
            <p:nvPr/>
          </p:nvGrpSpPr>
          <p:grpSpPr>
            <a:xfrm rot="3199874">
              <a:off x="3829048" y="1411668"/>
              <a:ext cx="4572003" cy="4572002"/>
              <a:chOff x="4711828" y="1591556"/>
              <a:chExt cx="4572003" cy="4572002"/>
            </a:xfrm>
            <a:effectLst>
              <a:outerShdw blurRad="152400" dist="50800" dir="5400000" algn="ctr" rotWithShape="0">
                <a:srgbClr val="000000">
                  <a:alpha val="95000"/>
                </a:srgbClr>
              </a:outerShdw>
            </a:effectLst>
          </p:grpSpPr>
          <p:sp>
            <p:nvSpPr>
              <p:cNvPr id="63" name="Freeform 62"/>
              <p:cNvSpPr/>
              <p:nvPr/>
            </p:nvSpPr>
            <p:spPr>
              <a:xfrm>
                <a:off x="4711828" y="1591556"/>
                <a:ext cx="3134579" cy="2286000"/>
              </a:xfrm>
              <a:custGeom>
                <a:avLst/>
                <a:gdLst>
                  <a:gd name="connsiteX0" fmla="*/ 2286000 w 3134579"/>
                  <a:gd name="connsiteY0" fmla="*/ 1 h 2286000"/>
                  <a:gd name="connsiteX1" fmla="*/ 3128542 w 3134579"/>
                  <a:gd name="connsiteY1" fmla="*/ 1396187 h 2286000"/>
                  <a:gd name="connsiteX2" fmla="*/ 3134579 w 3134579"/>
                  <a:gd name="connsiteY2" fmla="*/ 1437422 h 2286000"/>
                  <a:gd name="connsiteX3" fmla="*/ 2965786 w 3134579"/>
                  <a:gd name="connsiteY3" fmla="*/ 1412711 h 2286000"/>
                  <a:gd name="connsiteX4" fmla="*/ 2286000 w 3134579"/>
                  <a:gd name="connsiteY4" fmla="*/ 1371601 h 2286000"/>
                  <a:gd name="connsiteX5" fmla="*/ 1606214 w 3134579"/>
                  <a:gd name="connsiteY5" fmla="*/ 1412711 h 2286000"/>
                  <a:gd name="connsiteX6" fmla="*/ 1437421 w 3134579"/>
                  <a:gd name="connsiteY6" fmla="*/ 1437422 h 2286000"/>
                  <a:gd name="connsiteX7" fmla="*/ 1443458 w 3134579"/>
                  <a:gd name="connsiteY7" fmla="*/ 1396187 h 2286000"/>
                  <a:gd name="connsiteX8" fmla="*/ 2286000 w 3134579"/>
                  <a:gd name="connsiteY8" fmla="*/ 1 h 2286000"/>
                  <a:gd name="connsiteX9" fmla="*/ 2286000 w 3134579"/>
                  <a:gd name="connsiteY9" fmla="*/ 0 h 2286000"/>
                  <a:gd name="connsiteX10" fmla="*/ 1443458 w 3134579"/>
                  <a:gd name="connsiteY10" fmla="*/ 1396186 h 2286000"/>
                  <a:gd name="connsiteX11" fmla="*/ 1437421 w 3134579"/>
                  <a:gd name="connsiteY11" fmla="*/ 1437421 h 2286000"/>
                  <a:gd name="connsiteX12" fmla="*/ 1396186 w 3134579"/>
                  <a:gd name="connsiteY12" fmla="*/ 1443458 h 2286000"/>
                  <a:gd name="connsiteX13" fmla="*/ 0 w 3134579"/>
                  <a:gd name="connsiteY13" fmla="*/ 2286000 h 2286000"/>
                  <a:gd name="connsiteX14" fmla="*/ 2286000 w 3134579"/>
                  <a:gd name="connsiteY14" fmla="*/ 0 h 2286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134579" h="2286000">
                    <a:moveTo>
                      <a:pt x="2286000" y="1"/>
                    </a:moveTo>
                    <a:cubicBezTo>
                      <a:pt x="2664757" y="1"/>
                      <a:pt x="2989729" y="575707"/>
                      <a:pt x="3128542" y="1396187"/>
                    </a:cubicBezTo>
                    <a:lnTo>
                      <a:pt x="3134579" y="1437422"/>
                    </a:lnTo>
                    <a:lnTo>
                      <a:pt x="2965786" y="1412711"/>
                    </a:lnTo>
                    <a:cubicBezTo>
                      <a:pt x="2751042" y="1385994"/>
                      <a:pt x="2522723" y="1371601"/>
                      <a:pt x="2286000" y="1371601"/>
                    </a:cubicBezTo>
                    <a:cubicBezTo>
                      <a:pt x="2049277" y="1371601"/>
                      <a:pt x="1820958" y="1385994"/>
                      <a:pt x="1606214" y="1412711"/>
                    </a:cubicBezTo>
                    <a:lnTo>
                      <a:pt x="1437421" y="1437422"/>
                    </a:lnTo>
                    <a:lnTo>
                      <a:pt x="1443458" y="1396187"/>
                    </a:lnTo>
                    <a:cubicBezTo>
                      <a:pt x="1582272" y="575707"/>
                      <a:pt x="1907243" y="1"/>
                      <a:pt x="2286000" y="1"/>
                    </a:cubicBezTo>
                    <a:close/>
                    <a:moveTo>
                      <a:pt x="2286000" y="0"/>
                    </a:moveTo>
                    <a:cubicBezTo>
                      <a:pt x="1907243" y="0"/>
                      <a:pt x="1582272" y="575706"/>
                      <a:pt x="1443458" y="1396186"/>
                    </a:cubicBezTo>
                    <a:lnTo>
                      <a:pt x="1437421" y="1437421"/>
                    </a:lnTo>
                    <a:lnTo>
                      <a:pt x="1396186" y="1443458"/>
                    </a:lnTo>
                    <a:cubicBezTo>
                      <a:pt x="575706" y="1582272"/>
                      <a:pt x="0" y="1907243"/>
                      <a:pt x="0" y="2286000"/>
                    </a:cubicBezTo>
                    <a:cubicBezTo>
                      <a:pt x="0" y="1023477"/>
                      <a:pt x="1023477" y="0"/>
                      <a:pt x="2286000" y="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6350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Freeform 63"/>
              <p:cNvSpPr/>
              <p:nvPr/>
            </p:nvSpPr>
            <p:spPr>
              <a:xfrm>
                <a:off x="4711829" y="3028978"/>
                <a:ext cx="2286000" cy="3134579"/>
              </a:xfrm>
              <a:custGeom>
                <a:avLst/>
                <a:gdLst>
                  <a:gd name="connsiteX0" fmla="*/ 0 w 2286000"/>
                  <a:gd name="connsiteY0" fmla="*/ 848579 h 3134579"/>
                  <a:gd name="connsiteX1" fmla="*/ 1396186 w 2286000"/>
                  <a:gd name="connsiteY1" fmla="*/ 1691121 h 3134579"/>
                  <a:gd name="connsiteX2" fmla="*/ 1437421 w 2286000"/>
                  <a:gd name="connsiteY2" fmla="*/ 1697158 h 3134579"/>
                  <a:gd name="connsiteX3" fmla="*/ 1443458 w 2286000"/>
                  <a:gd name="connsiteY3" fmla="*/ 1738393 h 3134579"/>
                  <a:gd name="connsiteX4" fmla="*/ 2286000 w 2286000"/>
                  <a:gd name="connsiteY4" fmla="*/ 3134579 h 3134579"/>
                  <a:gd name="connsiteX5" fmla="*/ 0 w 2286000"/>
                  <a:gd name="connsiteY5" fmla="*/ 848579 h 3134579"/>
                  <a:gd name="connsiteX6" fmla="*/ 1437422 w 2286000"/>
                  <a:gd name="connsiteY6" fmla="*/ 0 h 3134579"/>
                  <a:gd name="connsiteX7" fmla="*/ 1412711 w 2286000"/>
                  <a:gd name="connsiteY7" fmla="*/ 168793 h 3134579"/>
                  <a:gd name="connsiteX8" fmla="*/ 1371601 w 2286000"/>
                  <a:gd name="connsiteY8" fmla="*/ 848579 h 3134579"/>
                  <a:gd name="connsiteX9" fmla="*/ 1412711 w 2286000"/>
                  <a:gd name="connsiteY9" fmla="*/ 1528365 h 3134579"/>
                  <a:gd name="connsiteX10" fmla="*/ 1437422 w 2286000"/>
                  <a:gd name="connsiteY10" fmla="*/ 1697158 h 3134579"/>
                  <a:gd name="connsiteX11" fmla="*/ 1396187 w 2286000"/>
                  <a:gd name="connsiteY11" fmla="*/ 1691121 h 3134579"/>
                  <a:gd name="connsiteX12" fmla="*/ 1 w 2286000"/>
                  <a:gd name="connsiteY12" fmla="*/ 848579 h 3134579"/>
                  <a:gd name="connsiteX13" fmla="*/ 1396187 w 2286000"/>
                  <a:gd name="connsiteY13" fmla="*/ 6037 h 3134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86000" h="3134579">
                    <a:moveTo>
                      <a:pt x="0" y="848579"/>
                    </a:moveTo>
                    <a:cubicBezTo>
                      <a:pt x="0" y="1227336"/>
                      <a:pt x="575706" y="1552308"/>
                      <a:pt x="1396186" y="1691121"/>
                    </a:cubicBezTo>
                    <a:lnTo>
                      <a:pt x="1437421" y="1697158"/>
                    </a:lnTo>
                    <a:lnTo>
                      <a:pt x="1443458" y="1738393"/>
                    </a:lnTo>
                    <a:cubicBezTo>
                      <a:pt x="1582272" y="2558873"/>
                      <a:pt x="1907243" y="3134579"/>
                      <a:pt x="2286000" y="3134579"/>
                    </a:cubicBezTo>
                    <a:cubicBezTo>
                      <a:pt x="1023477" y="3134579"/>
                      <a:pt x="0" y="2111102"/>
                      <a:pt x="0" y="848579"/>
                    </a:cubicBezTo>
                    <a:close/>
                    <a:moveTo>
                      <a:pt x="1437422" y="0"/>
                    </a:moveTo>
                    <a:lnTo>
                      <a:pt x="1412711" y="168793"/>
                    </a:lnTo>
                    <a:cubicBezTo>
                      <a:pt x="1385994" y="383537"/>
                      <a:pt x="1371601" y="611856"/>
                      <a:pt x="1371601" y="848579"/>
                    </a:cubicBezTo>
                    <a:cubicBezTo>
                      <a:pt x="1371601" y="1085302"/>
                      <a:pt x="1385994" y="1313621"/>
                      <a:pt x="1412711" y="1528365"/>
                    </a:cubicBezTo>
                    <a:lnTo>
                      <a:pt x="1437422" y="1697158"/>
                    </a:lnTo>
                    <a:lnTo>
                      <a:pt x="1396187" y="1691121"/>
                    </a:lnTo>
                    <a:cubicBezTo>
                      <a:pt x="575707" y="1552308"/>
                      <a:pt x="1" y="1227336"/>
                      <a:pt x="1" y="848579"/>
                    </a:cubicBezTo>
                    <a:cubicBezTo>
                      <a:pt x="1" y="469822"/>
                      <a:pt x="575707" y="144851"/>
                      <a:pt x="1396187" y="6037"/>
                    </a:cubicBez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  <a:effectLst>
                <a:innerShdw blurRad="6350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Freeform 65"/>
              <p:cNvSpPr/>
              <p:nvPr/>
            </p:nvSpPr>
            <p:spPr>
              <a:xfrm>
                <a:off x="6997830" y="1591557"/>
                <a:ext cx="2286001" cy="3134579"/>
              </a:xfrm>
              <a:custGeom>
                <a:avLst/>
                <a:gdLst>
                  <a:gd name="connsiteX0" fmla="*/ 0 w 2286001"/>
                  <a:gd name="connsiteY0" fmla="*/ 0 h 3134579"/>
                  <a:gd name="connsiteX1" fmla="*/ 2274198 w 2286001"/>
                  <a:gd name="connsiteY1" fmla="*/ 2052270 h 3134579"/>
                  <a:gd name="connsiteX2" fmla="*/ 2285999 w 2286001"/>
                  <a:gd name="connsiteY2" fmla="*/ 2285977 h 3134579"/>
                  <a:gd name="connsiteX3" fmla="*/ 2286001 w 2286001"/>
                  <a:gd name="connsiteY3" fmla="*/ 2286000 h 3134579"/>
                  <a:gd name="connsiteX4" fmla="*/ 889815 w 2286001"/>
                  <a:gd name="connsiteY4" fmla="*/ 3128542 h 3134579"/>
                  <a:gd name="connsiteX5" fmla="*/ 848580 w 2286001"/>
                  <a:gd name="connsiteY5" fmla="*/ 3134579 h 3134579"/>
                  <a:gd name="connsiteX6" fmla="*/ 873291 w 2286001"/>
                  <a:gd name="connsiteY6" fmla="*/ 2965786 h 3134579"/>
                  <a:gd name="connsiteX7" fmla="*/ 914401 w 2286001"/>
                  <a:gd name="connsiteY7" fmla="*/ 2286000 h 3134579"/>
                  <a:gd name="connsiteX8" fmla="*/ 873291 w 2286001"/>
                  <a:gd name="connsiteY8" fmla="*/ 1606214 h 3134579"/>
                  <a:gd name="connsiteX9" fmla="*/ 848580 w 2286001"/>
                  <a:gd name="connsiteY9" fmla="*/ 1437421 h 3134579"/>
                  <a:gd name="connsiteX10" fmla="*/ 848579 w 2286001"/>
                  <a:gd name="connsiteY10" fmla="*/ 1437421 h 3134579"/>
                  <a:gd name="connsiteX11" fmla="*/ 842542 w 2286001"/>
                  <a:gd name="connsiteY11" fmla="*/ 1396186 h 3134579"/>
                  <a:gd name="connsiteX12" fmla="*/ 0 w 2286001"/>
                  <a:gd name="connsiteY12" fmla="*/ 0 h 3134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86001" h="3134579">
                    <a:moveTo>
                      <a:pt x="0" y="0"/>
                    </a:moveTo>
                    <a:cubicBezTo>
                      <a:pt x="1183616" y="0"/>
                      <a:pt x="2157132" y="899540"/>
                      <a:pt x="2274198" y="2052270"/>
                    </a:cubicBezTo>
                    <a:lnTo>
                      <a:pt x="2285999" y="2285977"/>
                    </a:lnTo>
                    <a:lnTo>
                      <a:pt x="2286001" y="2286000"/>
                    </a:lnTo>
                    <a:cubicBezTo>
                      <a:pt x="2286001" y="2664757"/>
                      <a:pt x="1710295" y="2989729"/>
                      <a:pt x="889815" y="3128542"/>
                    </a:cubicBezTo>
                    <a:lnTo>
                      <a:pt x="848580" y="3134579"/>
                    </a:lnTo>
                    <a:lnTo>
                      <a:pt x="873291" y="2965786"/>
                    </a:lnTo>
                    <a:cubicBezTo>
                      <a:pt x="900009" y="2751042"/>
                      <a:pt x="914401" y="2522723"/>
                      <a:pt x="914401" y="2286000"/>
                    </a:cubicBezTo>
                    <a:cubicBezTo>
                      <a:pt x="914401" y="2049277"/>
                      <a:pt x="900009" y="1820958"/>
                      <a:pt x="873291" y="1606214"/>
                    </a:cubicBezTo>
                    <a:lnTo>
                      <a:pt x="848580" y="1437421"/>
                    </a:lnTo>
                    <a:lnTo>
                      <a:pt x="848579" y="1437421"/>
                    </a:lnTo>
                    <a:lnTo>
                      <a:pt x="842542" y="1396186"/>
                    </a:lnTo>
                    <a:cubicBezTo>
                      <a:pt x="703729" y="575706"/>
                      <a:pt x="378757" y="0"/>
                      <a:pt x="0" y="0"/>
                    </a:cubicBez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  <a:effectLst>
                <a:innerShdw blurRad="6350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Freeform 64"/>
              <p:cNvSpPr/>
              <p:nvPr/>
            </p:nvSpPr>
            <p:spPr>
              <a:xfrm>
                <a:off x="6149251" y="3877557"/>
                <a:ext cx="3134579" cy="2286001"/>
              </a:xfrm>
              <a:custGeom>
                <a:avLst/>
                <a:gdLst>
                  <a:gd name="connsiteX0" fmla="*/ 3134579 w 3134579"/>
                  <a:gd name="connsiteY0" fmla="*/ 0 h 2286001"/>
                  <a:gd name="connsiteX1" fmla="*/ 1082310 w 3134579"/>
                  <a:gd name="connsiteY1" fmla="*/ 2274198 h 2286001"/>
                  <a:gd name="connsiteX2" fmla="*/ 848602 w 3134579"/>
                  <a:gd name="connsiteY2" fmla="*/ 2285999 h 2286001"/>
                  <a:gd name="connsiteX3" fmla="*/ 848579 w 3134579"/>
                  <a:gd name="connsiteY3" fmla="*/ 2286001 h 2286001"/>
                  <a:gd name="connsiteX4" fmla="*/ 6037 w 3134579"/>
                  <a:gd name="connsiteY4" fmla="*/ 889815 h 2286001"/>
                  <a:gd name="connsiteX5" fmla="*/ 0 w 3134579"/>
                  <a:gd name="connsiteY5" fmla="*/ 848580 h 2286001"/>
                  <a:gd name="connsiteX6" fmla="*/ 168793 w 3134579"/>
                  <a:gd name="connsiteY6" fmla="*/ 873291 h 2286001"/>
                  <a:gd name="connsiteX7" fmla="*/ 848579 w 3134579"/>
                  <a:gd name="connsiteY7" fmla="*/ 914401 h 2286001"/>
                  <a:gd name="connsiteX8" fmla="*/ 1528365 w 3134579"/>
                  <a:gd name="connsiteY8" fmla="*/ 873291 h 2286001"/>
                  <a:gd name="connsiteX9" fmla="*/ 1697158 w 3134579"/>
                  <a:gd name="connsiteY9" fmla="*/ 848580 h 2286001"/>
                  <a:gd name="connsiteX10" fmla="*/ 1697158 w 3134579"/>
                  <a:gd name="connsiteY10" fmla="*/ 848579 h 2286001"/>
                  <a:gd name="connsiteX11" fmla="*/ 1738393 w 3134579"/>
                  <a:gd name="connsiteY11" fmla="*/ 842542 h 2286001"/>
                  <a:gd name="connsiteX12" fmla="*/ 3134579 w 3134579"/>
                  <a:gd name="connsiteY12" fmla="*/ 0 h 2286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34579" h="2286001">
                    <a:moveTo>
                      <a:pt x="3134579" y="0"/>
                    </a:moveTo>
                    <a:cubicBezTo>
                      <a:pt x="3134579" y="1183616"/>
                      <a:pt x="2235039" y="2157132"/>
                      <a:pt x="1082310" y="2274198"/>
                    </a:cubicBezTo>
                    <a:lnTo>
                      <a:pt x="848602" y="2285999"/>
                    </a:lnTo>
                    <a:lnTo>
                      <a:pt x="848579" y="2286001"/>
                    </a:lnTo>
                    <a:cubicBezTo>
                      <a:pt x="469822" y="2286001"/>
                      <a:pt x="144851" y="1710295"/>
                      <a:pt x="6037" y="889815"/>
                    </a:cubicBezTo>
                    <a:lnTo>
                      <a:pt x="0" y="848580"/>
                    </a:lnTo>
                    <a:lnTo>
                      <a:pt x="168793" y="873291"/>
                    </a:lnTo>
                    <a:cubicBezTo>
                      <a:pt x="383537" y="900009"/>
                      <a:pt x="611856" y="914401"/>
                      <a:pt x="848579" y="914401"/>
                    </a:cubicBezTo>
                    <a:cubicBezTo>
                      <a:pt x="1085302" y="914401"/>
                      <a:pt x="1313621" y="900009"/>
                      <a:pt x="1528365" y="873291"/>
                    </a:cubicBezTo>
                    <a:lnTo>
                      <a:pt x="1697158" y="848580"/>
                    </a:lnTo>
                    <a:lnTo>
                      <a:pt x="1697158" y="848579"/>
                    </a:lnTo>
                    <a:lnTo>
                      <a:pt x="1738393" y="842542"/>
                    </a:lnTo>
                    <a:cubicBezTo>
                      <a:pt x="2558873" y="703729"/>
                      <a:pt x="3134579" y="378757"/>
                      <a:pt x="3134579" y="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  <a:lumOff val="35000"/>
                </a:schemeClr>
              </a:solidFill>
              <a:ln>
                <a:noFill/>
              </a:ln>
              <a:effectLst>
                <a:innerShdw blurRad="6350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70" name="Picture 6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3077" y="1763767"/>
              <a:ext cx="1125075" cy="1125075"/>
            </a:xfrm>
            <a:prstGeom prst="rect">
              <a:avLst/>
            </a:prstGeom>
          </p:spPr>
        </p:pic>
        <p:pic>
          <p:nvPicPr>
            <p:cNvPr id="71" name="Picture 7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3630" y="2085808"/>
              <a:ext cx="1300162" cy="1300162"/>
            </a:xfrm>
            <a:prstGeom prst="rect">
              <a:avLst/>
            </a:prstGeom>
          </p:spPr>
        </p:pic>
        <p:pic>
          <p:nvPicPr>
            <p:cNvPr id="72" name="Picture 7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8718" y="3978535"/>
              <a:ext cx="1300162" cy="1300162"/>
            </a:xfrm>
            <a:prstGeom prst="rect">
              <a:avLst/>
            </a:prstGeom>
          </p:spPr>
        </p:pic>
        <p:pic>
          <p:nvPicPr>
            <p:cNvPr id="73" name="Picture 7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9593" y="4378314"/>
              <a:ext cx="1125075" cy="1125075"/>
            </a:xfrm>
            <a:prstGeom prst="rect">
              <a:avLst/>
            </a:prstGeom>
          </p:spPr>
        </p:pic>
      </p:grpSp>
      <p:sp>
        <p:nvSpPr>
          <p:cNvPr id="75" name="TextBox 74"/>
          <p:cNvSpPr txBox="1"/>
          <p:nvPr/>
        </p:nvSpPr>
        <p:spPr>
          <a:xfrm>
            <a:off x="1109673" y="2143794"/>
            <a:ext cx="220503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Exploring the real life application of transducers.</a:t>
            </a:r>
          </a:p>
          <a:p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Focus on LDR &amp; Ultrasonic Sensor.</a:t>
            </a:r>
          </a:p>
          <a:p>
            <a:endParaRPr 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9107958" y="2143794"/>
            <a:ext cx="22050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Highlighting how simple sensors can contribute to infrastructure.</a:t>
            </a:r>
          </a:p>
          <a:p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Building a smart street model.</a:t>
            </a:r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5470837" y="3237920"/>
            <a:ext cx="1854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adley Hand ITC" panose="03070402050302030203" pitchFamily="66" charset="0"/>
              </a:rPr>
              <a:t>4 </a:t>
            </a:r>
            <a:r>
              <a:rPr lang="en-US" sz="24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adley Hand ITC" panose="03070402050302030203" pitchFamily="66" charset="0"/>
              </a:rPr>
              <a:t>AIMS</a:t>
            </a:r>
            <a:endParaRPr lang="en-US" sz="24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783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05736" y="154357"/>
            <a:ext cx="55805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are Transducers ?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64024" y="1797424"/>
            <a:ext cx="4356847" cy="4280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32647" y="1461247"/>
            <a:ext cx="625736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Transducers convert one form of energy into </a:t>
            </a:r>
            <a:r>
              <a:rPr lang="en-US" sz="20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another.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2000" dirty="0" smtClean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en-US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They are crucial in automation and control systems</a:t>
            </a:r>
            <a:r>
              <a:rPr lang="en-US" sz="20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en-US" sz="2000" dirty="0" smtClean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en-US" sz="2000" dirty="0" smtClean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Examples:</a:t>
            </a:r>
          </a:p>
          <a:p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sz="20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</a:t>
            </a: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LDR, Ultrasonic Sensor, </a:t>
            </a:r>
            <a:r>
              <a:rPr lang="en-US" sz="20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Thermocouple,</a:t>
            </a:r>
          </a:p>
          <a:p>
            <a:r>
              <a:rPr lang="en-US" sz="20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potentiometer.</a:t>
            </a:r>
            <a:endParaRPr lang="en-US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329340" y="2253007"/>
            <a:ext cx="4862660" cy="4604994"/>
          </a:xfrm>
          <a:prstGeom prst="flowChartDelay">
            <a:avLst/>
          </a:prstGeom>
        </p:spPr>
      </p:pic>
    </p:spTree>
    <p:extLst>
      <p:ext uri="{BB962C8B-B14F-4D97-AF65-F5344CB8AC3E}">
        <p14:creationId xmlns:p14="http://schemas.microsoft.com/office/powerpoint/2010/main" val="3899991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09"/>
          <a:stretch/>
        </p:blipFill>
        <p:spPr>
          <a:xfrm>
            <a:off x="7110413" y="998399"/>
            <a:ext cx="3586162" cy="5321191"/>
          </a:xfrm>
          <a:prstGeom prst="round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32437" y="125436"/>
            <a:ext cx="41271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Smart Street model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5" name="Elbow Connector 14"/>
          <p:cNvCxnSpPr/>
          <p:nvPr/>
        </p:nvCxnSpPr>
        <p:spPr>
          <a:xfrm>
            <a:off x="6178260" y="1616798"/>
            <a:ext cx="1476375" cy="253276"/>
          </a:xfrm>
          <a:prstGeom prst="bentConnector3">
            <a:avLst>
              <a:gd name="adj1" fmla="val 64194"/>
            </a:avLst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/>
          <p:cNvCxnSpPr/>
          <p:nvPr/>
        </p:nvCxnSpPr>
        <p:spPr>
          <a:xfrm flipV="1">
            <a:off x="6178260" y="2198895"/>
            <a:ext cx="1655845" cy="1557005"/>
          </a:xfrm>
          <a:prstGeom prst="bentConnector3">
            <a:avLst>
              <a:gd name="adj1" fmla="val 54890"/>
            </a:avLst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/>
          <p:cNvCxnSpPr/>
          <p:nvPr/>
        </p:nvCxnSpPr>
        <p:spPr>
          <a:xfrm rot="10800000">
            <a:off x="10378611" y="4407278"/>
            <a:ext cx="1341902" cy="254130"/>
          </a:xfrm>
          <a:prstGeom prst="bentConnector3">
            <a:avLst>
              <a:gd name="adj1" fmla="val 75198"/>
            </a:avLst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/>
          <p:cNvCxnSpPr/>
          <p:nvPr/>
        </p:nvCxnSpPr>
        <p:spPr>
          <a:xfrm rot="10800000">
            <a:off x="9890596" y="3005137"/>
            <a:ext cx="1947298" cy="558335"/>
          </a:xfrm>
          <a:prstGeom prst="bentConnector3">
            <a:avLst>
              <a:gd name="adj1" fmla="val 58287"/>
            </a:avLst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164359" y="2043114"/>
            <a:ext cx="329992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Lampposts light up at night and turn off during the day to save electricity</a:t>
            </a:r>
            <a:r>
              <a:rPr lang="en-US" sz="20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dirty="0" smtClean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Automatic barrier gate opens when cars approach and closes after they pass to regulate traffic</a:t>
            </a:r>
          </a:p>
        </p:txBody>
      </p:sp>
      <p:cxnSp>
        <p:nvCxnSpPr>
          <p:cNvPr id="53" name="Elbow Connector 52"/>
          <p:cNvCxnSpPr/>
          <p:nvPr/>
        </p:nvCxnSpPr>
        <p:spPr>
          <a:xfrm flipV="1">
            <a:off x="5448300" y="1982098"/>
            <a:ext cx="2800350" cy="142056"/>
          </a:xfrm>
          <a:prstGeom prst="bentConnector3">
            <a:avLst>
              <a:gd name="adj1" fmla="val 58673"/>
            </a:avLst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rot="10800000" flipV="1">
            <a:off x="9020177" y="1414392"/>
            <a:ext cx="2290760" cy="404812"/>
          </a:xfrm>
          <a:prstGeom prst="bentConnector3">
            <a:avLst>
              <a:gd name="adj1" fmla="val 26507"/>
            </a:avLst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298884" y="1258822"/>
            <a:ext cx="1278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LDR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369160" y="1754822"/>
            <a:ext cx="1857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Auto Barrier gate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6243638" y="3079540"/>
            <a:ext cx="866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Servo Motor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0744200" y="1038155"/>
            <a:ext cx="652462" cy="376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Car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0742519" y="2917141"/>
            <a:ext cx="1095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Ultrasonic Sensor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0655253" y="4271358"/>
            <a:ext cx="122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Lampposts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85" name="Elbow Connector 84"/>
          <p:cNvCxnSpPr/>
          <p:nvPr/>
        </p:nvCxnSpPr>
        <p:spPr>
          <a:xfrm>
            <a:off x="6496051" y="5400675"/>
            <a:ext cx="1390649" cy="171450"/>
          </a:xfrm>
          <a:prstGeom prst="bentConnector3">
            <a:avLst>
              <a:gd name="adj1" fmla="val 43151"/>
            </a:avLst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6535972" y="5031343"/>
            <a:ext cx="690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LED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790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60" r="23460"/>
          <a:stretch>
            <a:fillRect/>
          </a:stretch>
        </p:blipFill>
        <p:spPr>
          <a:xfrm>
            <a:off x="7443474" y="1066801"/>
            <a:ext cx="3666690" cy="5181599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38317" y="1066801"/>
            <a:ext cx="5934511" cy="2483223"/>
          </a:xfrm>
        </p:spPr>
        <p:txBody>
          <a:bodyPr>
            <a:norm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Passive Transducer</a:t>
            </a:r>
            <a:r>
              <a:rPr lang="en-US" sz="20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  <a:p>
            <a:endParaRPr lang="en-US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</a:t>
            </a: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LDR detects light intensity</a:t>
            </a:r>
            <a:r>
              <a:rPr lang="en-US" sz="20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  <a:p>
            <a:endParaRPr lang="en-US" sz="2000" dirty="0" smtClean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Controlled </a:t>
            </a: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via Arduino and breadboard setup.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8930" y="138953"/>
            <a:ext cx="37741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LDR Functionality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1" t="16621" r="33115" b="8548"/>
          <a:stretch/>
        </p:blipFill>
        <p:spPr>
          <a:xfrm>
            <a:off x="1038317" y="4509246"/>
            <a:ext cx="2415988" cy="1739154"/>
          </a:xfrm>
          <a:prstGeom prst="flowChartAlternateProcess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532942" y="5921498"/>
            <a:ext cx="27987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Photo of LDR in our circuit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95386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873" y="2502396"/>
            <a:ext cx="4878387" cy="2912285"/>
          </a:xfrm>
          <a:prstGeom prst="round2Diag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0738" y="2504183"/>
            <a:ext cx="4875213" cy="2910498"/>
          </a:xfrm>
          <a:prstGeom prst="round2Diag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3694" y="2017058"/>
            <a:ext cx="4940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</a:t>
            </a:r>
            <a:r>
              <a:rPr lang="en-US" sz="2000" dirty="0" smtClean="0"/>
              <a:t>If </a:t>
            </a:r>
            <a:r>
              <a:rPr lang="en-US" sz="2000" dirty="0"/>
              <a:t>light level &gt; threshold: LEDs stay OFF (day).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197" y="2017058"/>
            <a:ext cx="49922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</a:t>
            </a:r>
            <a:r>
              <a:rPr lang="en-US" sz="2000" dirty="0" smtClean="0"/>
              <a:t>If </a:t>
            </a:r>
            <a:r>
              <a:rPr lang="en-US" sz="2000" dirty="0"/>
              <a:t>light level &lt; threshold: LEDs turn ON (night).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8930" y="138953"/>
            <a:ext cx="37741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LDR Functionality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80018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900" y="1250043"/>
            <a:ext cx="4833099" cy="2717800"/>
          </a:xfrm>
          <a:prstGeom prst="round2Diag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00450" y="144636"/>
            <a:ext cx="4991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Ultrasonic Functionality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8443" y="1066800"/>
            <a:ext cx="345621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Active Transducer.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dirty="0" smtClean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An </a:t>
            </a: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Ultrasonic sensor detects nearby </a:t>
            </a:r>
            <a:r>
              <a:rPr lang="en-US" sz="20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objects.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en-US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When </a:t>
            </a: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an object approaches, it triggers a servo motor to raise a </a:t>
            </a:r>
            <a:r>
              <a:rPr lang="en-US" sz="20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gate/barrier.</a:t>
            </a:r>
            <a:endParaRPr lang="en-US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33" t="15335" r="42528" b="62729"/>
          <a:stretch/>
        </p:blipFill>
        <p:spPr>
          <a:xfrm>
            <a:off x="1274404" y="4804470"/>
            <a:ext cx="2326046" cy="1322615"/>
          </a:xfrm>
          <a:prstGeom prst="round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450" y="5778766"/>
            <a:ext cx="3042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/>
              <a:t>Ultarsonic</a:t>
            </a:r>
            <a:r>
              <a:rPr lang="en-US" sz="1600" dirty="0" smtClean="0"/>
              <a:t> we used in our circuit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24826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/>
          <p:cNvPicPr>
            <a:picLocks noGrp="1" noChangeAspect="1"/>
          </p:cNvPicPr>
          <p:nvPr>
            <p:ph type="pic" idx="1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0" t="9391" r="140" b="5899"/>
          <a:stretch/>
        </p:blipFill>
        <p:spPr>
          <a:xfrm>
            <a:off x="707779" y="1830464"/>
            <a:ext cx="3356453" cy="1808281"/>
          </a:xfrm>
        </p:spPr>
      </p:pic>
      <p:pic>
        <p:nvPicPr>
          <p:cNvPr id="13" name="Picture Placeholder 12"/>
          <p:cNvPicPr>
            <a:picLocks noGrp="1" noChangeAspect="1"/>
          </p:cNvPicPr>
          <p:nvPr>
            <p:ph type="pic" idx="2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" t="-37" r="-561" b="15411"/>
          <a:stretch/>
        </p:blipFill>
        <p:spPr>
          <a:xfrm>
            <a:off x="4278167" y="1830465"/>
            <a:ext cx="3360340" cy="1808280"/>
          </a:xfrm>
        </p:spPr>
      </p:pic>
      <p:pic>
        <p:nvPicPr>
          <p:cNvPr id="14" name="Picture Placeholder 13"/>
          <p:cNvPicPr>
            <a:picLocks noGrp="1" noChangeAspect="1"/>
          </p:cNvPicPr>
          <p:nvPr>
            <p:ph type="pic" idx="2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1" t="9890" r="281" b="5400"/>
          <a:stretch/>
        </p:blipFill>
        <p:spPr>
          <a:xfrm>
            <a:off x="7852442" y="1830465"/>
            <a:ext cx="3356168" cy="1808280"/>
          </a:xfrm>
          <a:prstGeom prst="round2DiagRect">
            <a:avLst>
              <a:gd name="adj1" fmla="val 16667"/>
              <a:gd name="adj2" fmla="val 0"/>
            </a:avLst>
          </a:prstGeom>
        </p:spPr>
      </p:pic>
      <p:sp>
        <p:nvSpPr>
          <p:cNvPr id="15" name="TextBox 14"/>
          <p:cNvSpPr txBox="1"/>
          <p:nvPr/>
        </p:nvSpPr>
        <p:spPr>
          <a:xfrm>
            <a:off x="3600450" y="144636"/>
            <a:ext cx="4991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Ultrasonic Functionality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7779" y="3940404"/>
            <a:ext cx="327504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Car Still Far ?!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Ultrasonic sensor gives no voltage to Servo motor.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Barrier gate </a:t>
            </a:r>
            <a:r>
              <a:rPr lang="en-US" dirty="0" err="1" smtClean="0"/>
              <a:t>doesnot</a:t>
            </a:r>
            <a:r>
              <a:rPr lang="en-US" dirty="0" smtClean="0"/>
              <a:t> open.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320814" y="3940404"/>
            <a:ext cx="327504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Car Approached ?!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Ultrasonic sensor gives high voltage to Servo motor.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Barrier gate open as shown.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7893003" y="3940404"/>
            <a:ext cx="327504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Car Passed by ?!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Ultrasonic sensor returns zero voltage again to Servo motor.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Barrier gate close again.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291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4394" y="122549"/>
            <a:ext cx="49632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Circuit and Components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9369" y="1310326"/>
            <a:ext cx="336065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Arduino UNO was used to read sensors and control outputs</a:t>
            </a:r>
            <a:r>
              <a:rPr lang="en-US" sz="2000" dirty="0" smtClean="0"/>
              <a:t>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dirty="0" smtClean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 smtClean="0"/>
              <a:t>Components</a:t>
            </a:r>
            <a:r>
              <a:rPr lang="en-US" sz="2000" dirty="0"/>
              <a:t>: Breadboard, Jumpers, LEDs, LDR, Ultrasonic Sensor, Servo </a:t>
            </a:r>
            <a:r>
              <a:rPr lang="en-US" sz="2000" dirty="0" smtClean="0"/>
              <a:t>Motor, Straws, Rectangular box. Decoration.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024687" y="577404"/>
            <a:ext cx="2780841" cy="4943717"/>
          </a:xfrm>
          <a:prstGeom prst="round2Diag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00728" y="4449647"/>
            <a:ext cx="3505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Our Circuit Implemented on Bread Board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94295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39839" y="150829"/>
            <a:ext cx="55123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Circuit Diagram and Code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689" y="1675473"/>
            <a:ext cx="5076826" cy="3383228"/>
          </a:xfrm>
          <a:prstGeom prst="flowChartAlternateProcess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735"/>
          <a:stretch/>
        </p:blipFill>
        <p:spPr>
          <a:xfrm>
            <a:off x="6793584" y="836771"/>
            <a:ext cx="4552950" cy="5060632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418816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7706" y="131976"/>
            <a:ext cx="52365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Challenges and Solutions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96149" y="1933607"/>
            <a:ext cx="430804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Calibrating light threshold </a:t>
            </a:r>
            <a:r>
              <a:rPr lang="en-US" sz="20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accurately.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dirty="0" smtClean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Positioning sensors correctly inside the </a:t>
            </a:r>
            <a:r>
              <a:rPr lang="en-US" sz="20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model.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dirty="0" smtClean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Stable </a:t>
            </a: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power supply and signal handling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0" t="16874" r="73034" b="76915"/>
          <a:stretch/>
        </p:blipFill>
        <p:spPr>
          <a:xfrm>
            <a:off x="6715124" y="1933607"/>
            <a:ext cx="3387721" cy="461962"/>
          </a:xfrm>
          <a:prstGeom prst="round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71" r="39325"/>
          <a:stretch/>
        </p:blipFill>
        <p:spPr>
          <a:xfrm>
            <a:off x="6715124" y="3189214"/>
            <a:ext cx="1560533" cy="2287662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98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0134" y="122548"/>
            <a:ext cx="21917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+mj-lt"/>
              </a:rPr>
              <a:t>Let’s Try !!</a:t>
            </a:r>
            <a:endParaRPr lang="en-US" sz="4000" dirty="0">
              <a:latin typeface="+mj-lt"/>
            </a:endParaRPr>
          </a:p>
        </p:txBody>
      </p:sp>
      <p:pic>
        <p:nvPicPr>
          <p:cNvPr id="3" name="WhatsApp Video 2025-04-29 at 23.27.03_36aa084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>
                  <p14:fade in="500" out="1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53805" y="1027522"/>
            <a:ext cx="8484390" cy="48029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437" y="5858289"/>
            <a:ext cx="8531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Video</a:t>
            </a:r>
            <a:endParaRPr lang="en-US" sz="16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4141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 fullScrn="1"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28854" y="2921169"/>
            <a:ext cx="45342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 !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793</TotalTime>
  <Words>358</Words>
  <Application>Microsoft Office PowerPoint</Application>
  <PresentationFormat>Widescreen</PresentationFormat>
  <Paragraphs>106</Paragraphs>
  <Slides>13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 Unicode MS</vt:lpstr>
      <vt:lpstr>Agency FB</vt:lpstr>
      <vt:lpstr>Arial</vt:lpstr>
      <vt:lpstr>Bradley Hand ITC</vt:lpstr>
      <vt:lpstr>Calibri</vt:lpstr>
      <vt:lpstr>Courier New</vt:lpstr>
      <vt:lpstr>Trebuchet MS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TRONIX</dc:creator>
  <cp:lastModifiedBy>TRONIX</cp:lastModifiedBy>
  <cp:revision>53</cp:revision>
  <dcterms:created xsi:type="dcterms:W3CDTF">2025-04-29T14:28:42Z</dcterms:created>
  <dcterms:modified xsi:type="dcterms:W3CDTF">2025-05-02T15:49:17Z</dcterms:modified>
</cp:coreProperties>
</file>